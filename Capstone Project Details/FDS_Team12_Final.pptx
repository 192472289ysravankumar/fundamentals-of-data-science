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7" r:id="rId4"/>
    <p:sldId id="258" r:id="rId5"/>
    <p:sldId id="261" r:id="rId6"/>
    <p:sldId id="262" r:id="rId7"/>
    <p:sldId id="266" r:id="rId8"/>
    <p:sldId id="264" r:id="rId9"/>
    <p:sldId id="273" r:id="rId10"/>
    <p:sldId id="265" r:id="rId11"/>
    <p:sldId id="278" r:id="rId12"/>
    <p:sldId id="272" r:id="rId13"/>
    <p:sldId id="279" r:id="rId14"/>
    <p:sldId id="280" r:id="rId15"/>
    <p:sldId id="267" r:id="rId16"/>
    <p:sldId id="268" r:id="rId17"/>
    <p:sldId id="276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17104-0C31-FEB5-B6A6-369EC624B993}" v="289" dt="2026-09-02T09:09:23.360"/>
    <p1510:client id="{BFF52BB9-23CF-4A65-B26A-EA2E9AEFE084}" v="730" dt="2026-09-03T19:17:39.372"/>
    <p1510:client id="{C350AFA5-7C70-4C5C-8E25-B2872AD140C5}" v="41" dt="2026-09-03T18:17:31.088"/>
    <p1510:client id="{FD285245-FEB9-4092-BE87-E536AED65916}" v="163" dt="2026-09-04T07:18:14.1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>
      <p:cViewPr>
        <p:scale>
          <a:sx n="100" d="100"/>
          <a:sy n="100" d="100"/>
        </p:scale>
        <p:origin x="1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2714" y="257810"/>
            <a:ext cx="10794365" cy="118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7430" y="1771332"/>
            <a:ext cx="9857740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83753" y="1716046"/>
            <a:ext cx="10224491" cy="1124667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spcBef>
                <a:spcPts val="130"/>
              </a:spcBef>
            </a:pPr>
            <a:r>
              <a:rPr lang="en-US" sz="3600" b="1" dirty="0">
                <a:latin typeface="Times New Roman"/>
                <a:cs typeface="Times New Roman"/>
              </a:rPr>
              <a:t>Student Performance  Analysis Using Exploratory Data Analysis</a:t>
            </a:r>
            <a:endParaRPr lang="en-US" sz="3600" b="1">
              <a:highlight>
                <a:srgbClr val="22242A"/>
              </a:highlight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8621" y="3232404"/>
            <a:ext cx="8138517" cy="385362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algn="just">
              <a:spcBef>
                <a:spcPts val="125"/>
              </a:spcBef>
            </a:pPr>
            <a:r>
              <a:rPr lang="en-US" sz="2400" spc="-180" dirty="0">
                <a:latin typeface="Times New Roman"/>
                <a:cs typeface="Times New Roman"/>
              </a:rPr>
              <a:t>DSA0404  - FUNDAMENTALS   OF  DATA  SCIENCE   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0" y="4590199"/>
            <a:ext cx="255221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0" y="5033803"/>
            <a:ext cx="4343400" cy="1603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. Mohammad Taher (192524366)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. Siva Charan (192472147)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Sravan Kumar Y(192472289)</a:t>
            </a:r>
          </a:p>
          <a:p>
            <a:pPr marL="12700">
              <a:spcBef>
                <a:spcPts val="100"/>
              </a:spcBef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88" y="4590199"/>
            <a:ext cx="177930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079" y="5060842"/>
            <a:ext cx="315652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6749E6CC-8CF6-D538-860D-4EFEAEE0C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914400" y="234421"/>
            <a:ext cx="10351985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20EC12-166D-59FB-983E-A4668428E4DF}"/>
              </a:ext>
            </a:extLst>
          </p:cNvPr>
          <p:cNvSpPr txBox="1"/>
          <p:nvPr/>
        </p:nvSpPr>
        <p:spPr>
          <a:xfrm>
            <a:off x="862508" y="2162584"/>
            <a:ext cx="10445749" cy="5115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Student academic performance is influenced by factors such as attendance, assignment scores, internal marks, previous marks, and study hours. </a:t>
            </a:r>
            <a:endParaRPr lang="en-IN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The Student Performance Analyser uses data science techniques to analyse academic records and identify important performance patterns and trends.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Data preprocessing and Exploratory Data Analysis (EDA) are used to clean the data and understand relationships between different academic factors.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Machine learning techniques are applied to predict students' final performance based on their academic and related attributes.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The system provides an interactive dashboard and performance insights to help faculty identify students who may need additional support and make timely, data-driven academic decisions.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/>
              <a:cs typeface="Times New Roman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6A24349-AA4E-0607-22DF-23EEC42C5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2" y="1427131"/>
            <a:ext cx="10445749" cy="5270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+mj-ea"/>
                <a:cs typeface="Times New Roman"/>
              </a:rPr>
              <a:t>Introduction</a:t>
            </a:r>
            <a:endParaRPr lang="en-US" sz="3200" b="1">
              <a:solidFill>
                <a:schemeClr val="bg1"/>
              </a:solidFill>
              <a:latin typeface="Times New Roman"/>
              <a:ea typeface="+mj-ea"/>
              <a:cs typeface="Times New Roman"/>
            </a:endParaRPr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6A2066EA-06D5-87B1-8EF2-ECAED6B8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266171"/>
            <a:ext cx="10436652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7CF4D-1D51-0737-4D01-80F968897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9263" y="1718415"/>
            <a:ext cx="9857740" cy="5351721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 dirty="0">
                <a:latin typeface="Times New Roman"/>
                <a:ea typeface="Calibri"/>
                <a:cs typeface="Times New Roman"/>
              </a:rPr>
              <a:t>Traditional student performance evaluation is often manual and time-consuming, making continuous academic monitoring difficult.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 dirty="0">
                <a:latin typeface="Times New Roman"/>
                <a:ea typeface="Calibri"/>
                <a:cs typeface="Times New Roman"/>
              </a:rPr>
              <a:t>Academic data such as marks, attendance, assignments, and previous performance may be stored in different formats, making analysis difficult.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 dirty="0">
                <a:latin typeface="Times New Roman"/>
                <a:ea typeface="Calibri"/>
                <a:cs typeface="Times New Roman"/>
              </a:rPr>
              <a:t>It is challenging to identify the key factors that influence student academic performance from large datasets.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 dirty="0">
                <a:latin typeface="Times New Roman"/>
                <a:ea typeface="Calibri"/>
                <a:cs typeface="Times New Roman"/>
              </a:rPr>
              <a:t>Faculty may face difficulty in predicting future student performance and identifying students who are likely to underperform.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 dirty="0">
                <a:latin typeface="Times New Roman"/>
                <a:ea typeface="Calibri"/>
                <a:cs typeface="Times New Roman"/>
              </a:rPr>
              <a:t>Lack of clear visual dashboards and performance trends makes it difficult to interpret academic data and compare student outcomes.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 dirty="0">
                <a:latin typeface="Times New Roman"/>
                <a:ea typeface="Calibri"/>
                <a:cs typeface="Times New Roman"/>
              </a:rPr>
              <a:t>There is a need for a data-driven system that provides timely insights, predicts performance, identifies at-risk students, and supports effective academic decision-making.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0993DE28-7E37-021E-CDBF-B4007CE6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266171"/>
            <a:ext cx="10436652" cy="874468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85DE59D-7A5E-0436-35DF-930569980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95" y="1183714"/>
            <a:ext cx="10445749" cy="5270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+mj-ea"/>
                <a:cs typeface="Times New Roman"/>
              </a:rPr>
              <a:t>Problem Statement</a:t>
            </a:r>
            <a:endParaRPr lang="en-US" sz="3200" b="1">
              <a:solidFill>
                <a:schemeClr val="bg1"/>
              </a:solidFill>
              <a:latin typeface="Times New Roman"/>
              <a:ea typeface="+mj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989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65717" y="1958218"/>
            <a:ext cx="10453031" cy="5039649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collect and preprocess student academic data, including marks, attendance, assignment scores, study hours, and previous academic performance. </a:t>
            </a:r>
            <a:endParaRPr lang="en-IN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explore and analyse academic data using statistical and Exploratory Data Analysis (EDA) techniques to identify important performance patterns and trends. 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develop a machine learning model for predicting students' final academic performance based on relevant academic factors. 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visualize and present student performance through interactive charts, dashboards, and individual performance reports for easy interpretation. 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 dirty="0">
                <a:latin typeface="Times New Roman"/>
                <a:cs typeface="Times New Roman"/>
              </a:rPr>
              <a:t>To identify students at risk of poor performance and provide meaningful insights that can help faculty offer timely academic guidance and support.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10" name="Picture 9" descr="SSE-Computer Science and Engineering">
            <a:extLst>
              <a:ext uri="{FF2B5EF4-FFF2-40B4-BE49-F238E27FC236}">
                <a16:creationId xmlns:a16="http://schemas.microsoft.com/office/drawing/2014/main" id="{5C4B31C9-989E-EB56-8E60-4C2725C3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266171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FC2239EC-C007-546D-08E9-D20758116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2" y="1427131"/>
            <a:ext cx="10445749" cy="5270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+mj-ea"/>
                <a:cs typeface="Times New Roman"/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BB7AA3-2E4E-4284-14C6-036CCBAB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2132422"/>
            <a:ext cx="10799232" cy="4587995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E1DA572F-FA13-BC9E-A286-93A40E3BC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Literature Review</a:t>
            </a:r>
            <a:endParaRPr lang="en-US" b="1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4" name="Picture 13" descr="SSE-Computer Science and Engineering">
            <a:extLst>
              <a:ext uri="{FF2B5EF4-FFF2-40B4-BE49-F238E27FC236}">
                <a16:creationId xmlns:a16="http://schemas.microsoft.com/office/drawing/2014/main" id="{AC3E3FF7-CBC1-452A-ACDC-F6AE3D98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00617" y="2148773"/>
            <a:ext cx="10804280" cy="4498667"/>
          </a:xfrm>
          <a:prstGeom prst="rect">
            <a:avLst/>
          </a:prstGeom>
        </p:spPr>
        <p:txBody>
          <a:bodyPr vert="horz" wrap="square" lIns="0" tIns="109855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Input:</a:t>
            </a:r>
            <a:r>
              <a:rPr lang="en-IN" sz="1600">
                <a:latin typeface="Times New Roman"/>
                <a:cs typeface="Times New Roman"/>
              </a:rPr>
              <a:t> Load student academic dataset containing marks, attendance, assignments, study hours, and previous performance. </a:t>
            </a:r>
            <a:endParaRPr lang="en-IN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Preprocess Data:</a:t>
            </a:r>
            <a:r>
              <a:rPr lang="en-IN" sz="1600">
                <a:latin typeface="Times New Roman"/>
                <a:cs typeface="Times New Roman"/>
              </a:rPr>
              <a:t> Handle missing values, remove duplicates, encode categorical data, and normalize numerical features.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Perform EDA:</a:t>
            </a:r>
            <a:r>
              <a:rPr lang="en-IN" sz="1600">
                <a:latin typeface="Times New Roman"/>
                <a:cs typeface="Times New Roman"/>
              </a:rPr>
              <a:t> Calculate statistical measures and analyse relationships between academic factors and student performance.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Feature Selection:</a:t>
            </a:r>
            <a:r>
              <a:rPr lang="en-IN" sz="1600">
                <a:latin typeface="Times New Roman"/>
                <a:cs typeface="Times New Roman"/>
              </a:rPr>
              <a:t> Select relevant features affecting the final performance.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Model Training:</a:t>
            </a:r>
            <a:r>
              <a:rPr lang="en-IN" sz="1600">
                <a:latin typeface="Times New Roman"/>
                <a:cs typeface="Times New Roman"/>
              </a:rPr>
              <a:t> Split the dataset into training and testing sets and train Regression, Decision Tree, and Random Forest models.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Model Evaluation:</a:t>
            </a:r>
            <a:r>
              <a:rPr lang="en-IN" sz="1600">
                <a:latin typeface="Times New Roman"/>
                <a:cs typeface="Times New Roman"/>
              </a:rPr>
              <a:t> Generate predictions and evaluate the models using appropriate performance metrics; select the best-performing model.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Performance Prediction:</a:t>
            </a:r>
            <a:r>
              <a:rPr lang="en-IN" sz="1600">
                <a:latin typeface="Times New Roman"/>
                <a:cs typeface="Times New Roman"/>
              </a:rPr>
              <a:t> Use the selected model to predict the student's final score.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Performance Classification: </a:t>
            </a:r>
            <a:r>
              <a:rPr lang="en-IN" sz="1600">
                <a:latin typeface="Times New Roman"/>
                <a:cs typeface="Times New Roman"/>
              </a:rPr>
              <a:t>Categorize students as High, Average, or At-Risk based on the predicted performance.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Visualization: </a:t>
            </a:r>
            <a:r>
              <a:rPr lang="en-IN" sz="1600">
                <a:latin typeface="Times New Roman"/>
                <a:cs typeface="Times New Roman"/>
              </a:rPr>
              <a:t>Display performance statistics, trends, predictions, and at-risk students through an interactive dashboard. 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1600" b="1">
                <a:latin typeface="Times New Roman"/>
                <a:cs typeface="Times New Roman"/>
              </a:rPr>
              <a:t>Output:</a:t>
            </a:r>
            <a:r>
              <a:rPr lang="en-IN" sz="1600">
                <a:latin typeface="Times New Roman"/>
                <a:cs typeface="Times New Roman"/>
              </a:rPr>
              <a:t> Provide academic insights to support timely faculty guidance.</a:t>
            </a:r>
            <a:endParaRPr lang="en-IN" sz="1600" dirty="0">
              <a:latin typeface="Times New Roman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n-IN" sz="1600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7799E96B-75C1-9DB4-A967-3AB0C60C69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692150" y="308504"/>
            <a:ext cx="10796484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9AF1C289-95FD-F336-1B69-06710C890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+mj-ea"/>
                <a:cs typeface="Times New Roman"/>
              </a:rPr>
              <a:t>Algorithm</a:t>
            </a:r>
            <a:endParaRPr lang="en-US" sz="3200" b="1">
              <a:solidFill>
                <a:schemeClr val="bg1"/>
              </a:solidFill>
              <a:latin typeface="Times New Roman"/>
              <a:ea typeface="+mj-ea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599DFA-3885-5F20-D2D6-F61549E34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52" y="1713183"/>
            <a:ext cx="9894146" cy="5036054"/>
          </a:xfrm>
          <a:prstGeom prst="rect">
            <a:avLst/>
          </a:prstGeom>
        </p:spPr>
      </p:pic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431163C2-B20D-DBA3-F09A-A41B17BA67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62134" y="1880903"/>
            <a:ext cx="10442562" cy="536775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Collect student academic data including attendance, assignment scores, test marks, previous marks, study hours, and final performance. 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Load and integrate data from structured sources such as CSV/Excel files into a single dataset.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Inspect data quality by identifying missing values, duplicate records, inconsistent formats, and invalid entries.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Clean and transform the dataset by handling missing values, removing duplicates, correcting data types, and standardizing numerical values.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Encode categorical attributes such as gender and department into a suitable numerical representation for analysis.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Analyse the cleaned data using basic statistical measures to understand student performance patterns.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Select relevant features that contribute to predicting student academic performance.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>
                <a:latin typeface="Times New Roman"/>
                <a:cs typeface="Times New Roman"/>
              </a:rPr>
              <a:t>Generate the final preprocessed dataset and pass it to Module 2 – Performance Prediction using Machine Learning.</a:t>
            </a:r>
            <a:endParaRPr lang="en-IN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13F1B6AD-A14A-5094-DB72-98DC006DA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D807CF9-52F0-B90D-BBBD-91F58DA96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1" y="1310714"/>
            <a:ext cx="10445749" cy="56938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IN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r>
              <a:rPr lang="en-IN" sz="32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MODULE 1 -Data Collection &amp; Preprocessing</a:t>
            </a: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2263BD14-3BEB-915B-CFAE-A5B5658C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6EDE0C6C-D3D1-1C1F-67F4-EC64BD17B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Output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A9191-95C9-06DD-E834-5C98257C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20" y="2106083"/>
            <a:ext cx="10808542" cy="474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40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8B1F6-3440-98D8-A56C-9B25F41883A2}"/>
              </a:ext>
            </a:extLst>
          </p:cNvPr>
          <p:cNvSpPr txBox="1"/>
          <p:nvPr/>
        </p:nvSpPr>
        <p:spPr>
          <a:xfrm>
            <a:off x="856289" y="2214172"/>
            <a:ext cx="10416101" cy="46130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Prepare the selected features such as attendance, assignment scores, test marks, study hours, and previous academic performance as model inputs. 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Split the </a:t>
            </a:r>
            <a:r>
              <a:rPr lang="en-IN" dirty="0" err="1">
                <a:latin typeface="Times New Roman"/>
                <a:cs typeface="Times New Roman"/>
              </a:rPr>
              <a:t>preprocessed</a:t>
            </a:r>
            <a:r>
              <a:rPr lang="en-IN" dirty="0">
                <a:latin typeface="Times New Roman"/>
                <a:cs typeface="Times New Roman"/>
              </a:rPr>
              <a:t> dataset into training and testing sets for reliable model development and evaluation. </a:t>
            </a: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Train machine learning model  Random Forest to predict students' final performance. </a:t>
            </a: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Generate predicted performance scores for the test data and compare them with the actual final scores. </a:t>
            </a: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Evaluate and compare the models using suitable metrics such as MAE, RMSE, and R² score to identify the best-performing model. </a:t>
            </a: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Use the selected model to predict the final performance of new students. </a:t>
            </a: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dirty="0">
                <a:latin typeface="Times New Roman"/>
                <a:cs typeface="Times New Roman"/>
              </a:rPr>
              <a:t>Categorize predicted performance into High, Average, and At-Risk levels based on predefined performance thresholds.</a:t>
            </a:r>
          </a:p>
          <a:p>
            <a:pPr algn="just">
              <a:lnSpc>
                <a:spcPct val="150000"/>
              </a:lnSpc>
              <a:buFont typeface="Arial"/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7A8BA2E1-8818-6382-3089-9DAE75134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0FECE474-224B-CD85-B94B-819FDA818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1" y="1448298"/>
            <a:ext cx="10435166" cy="64346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8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28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r>
              <a:rPr lang="en-US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MODULE 2 - </a:t>
            </a:r>
            <a:r>
              <a:rPr lang="en-IN" sz="28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Performance Prediction using Machine Learning</a:t>
            </a:r>
          </a:p>
          <a:p>
            <a:pPr algn="ctr">
              <a:defRPr/>
            </a:pPr>
            <a:endParaRPr lang="en-IN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A9AF-863B-85B5-CBE3-F449A2DD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0D2BA8FF-0E53-D6F0-CD23-FB8034E2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D47B3D91-FF1A-8DC3-547E-96CEDB5B6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Output Screenshot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2D77F8-E8BD-5B05-7920-7BBDD095E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65" y="2159000"/>
            <a:ext cx="10796086" cy="450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65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D93CDE-D93E-9C62-F384-454B3DFA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2A13959-548D-0212-D56B-A74E77B24527}"/>
              </a:ext>
            </a:extLst>
          </p:cNvPr>
          <p:cNvSpPr txBox="1"/>
          <p:nvPr/>
        </p:nvSpPr>
        <p:spPr>
          <a:xfrm>
            <a:off x="876300" y="2140910"/>
            <a:ext cx="10449983" cy="457413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Display key performance indicators (KPIs) such as average marks, pass rate, attendance, and number of at-risk students. </a:t>
            </a:r>
            <a:endParaRPr lang="en-IN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Visualize performance distributions using charts to show High, Average, and At-Risk students.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Compare academic performance across subjects, departments, and semesters.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Provide student-wise performance analysis including marks, attendance, assignments, and predicted performance.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Identify and highlight at-risk students based on their performance and prediction results.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 sz="2000">
                <a:latin typeface="Times New Roman"/>
                <a:cs typeface="Times New Roman"/>
              </a:rPr>
              <a:t>Generate actionable insights and summary reports to help faculty understand overall class performance and make informed academic decisions.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C92CD54C-34CC-73CD-7336-FA3997A2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0A22CEF9-0C5A-35ED-EA70-A1B4B9EC2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11" y="1395381"/>
            <a:ext cx="10445749" cy="50588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 b="1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MODULE 3 </a:t>
            </a: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-</a:t>
            </a:r>
            <a:r>
              <a:rPr lang="en-IN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IN" sz="2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Visualization &amp; InsightDashboard</a:t>
            </a:r>
            <a:endParaRPr lang="en-US" sz="24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ctr">
              <a:defRPr/>
            </a:pPr>
            <a:endParaRPr lang="en-IN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615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249A-A3EA-82CF-FD58-E380CC03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51A34B9A-A3E4-5479-A4F9-6B8F6349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0E58CF0E-8F30-BE99-F65E-84AAFAEF1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Output Screenshot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B0FAB0-9179-C86F-F92A-4C5091BB4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9" y="2104389"/>
            <a:ext cx="10805584" cy="461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39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E851-3345-EE81-AEDF-CA946426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C8D9DE5A-4AFC-FEF4-1B59-0E8D8537D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08773045-1200-5904-1873-BCB7CEB09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95" y="1321298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Output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A42C7-BFCD-4FCB-9147-5B10C042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09" y="1968500"/>
            <a:ext cx="10795432" cy="4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5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2286" y="2113435"/>
            <a:ext cx="10359569" cy="54974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Accurate assessment of student academic performance using marks, attendance, assignments, and previous academic records. 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Early identification of at-risk students through performance analysis and predicted outcomes.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Reliable performance prediction using Regression, Decision Tree, and Random Forest models.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Interactive visualization of student performance trends, comparisons, and key academic indicators through charts and dashboards.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Actionable academic insights that help faculty provide timely and personalized guidance to students.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IN" sz="2000">
                <a:latin typeface="Times New Roman"/>
                <a:cs typeface="Times New Roman"/>
              </a:rPr>
              <a:t>Improved academic decision-making by providing faculty with summarized performance reports and data-driven insights for effective student monitoring</a:t>
            </a:r>
            <a:r>
              <a:rPr lang="en-IN" sz="2000"/>
              <a:t>. </a:t>
            </a:r>
            <a:endParaRPr lang="en-IN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endParaRPr lang="en-IN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AC96A6AD-EB41-547E-4C85-F018BFA3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903817" y="361421"/>
            <a:ext cx="10320234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486D31AF-453A-E671-7A96-5041E1398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44" y="1437715"/>
            <a:ext cx="10329333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Result</a:t>
            </a:r>
            <a:endParaRPr lang="en-US" b="1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8065" y="1845392"/>
            <a:ext cx="10945283" cy="536518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proposed Student Performance Analyser provides a systematic and data-driven approach to analysing student academic performance. </a:t>
            </a:r>
            <a:endParaRPr lang="en-IN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system uses data preprocessing, Exploratory Data Analysis, and machine learning techniques to identify important factors influencing student outcomes.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Machine learning models such as Regression, Decision Tree, and Random Forest enable effective prediction of student performance.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interactive dashboard presents overall, subject-wise, and student-wise performance through clear charts, statistics, and visual reports.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The system helps in early identification of at-risk students, enabling faculty to take timely academic support measures.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Overall, the proposed system improves performance monitoring, data-driven decision-making, and personalized academic guidance compared with traditional manual evaluation. </a:t>
            </a:r>
            <a:endParaRPr lang="en-IN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280FFA72-4000-8660-595C-2F03F099A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616568" cy="874468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1CC07B63-658C-D7A1-513E-B52615E7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300132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97301-AE5C-1FCF-60E2-7738109B5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347" y="2109999"/>
            <a:ext cx="10429240" cy="4936223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Real-time data integration can be introduced to automatically update student performance whenever new academic records are added.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Advanced machine learning and deep learning models can be implemented to improve prediction accuracy.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Personalized recommendations can be provided to students based on their performance, strengths, weaknesses, and learning patterns.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Student progress tracking can be extended to monitor performance over multiple semesters and identify long-term academic trends.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Early-warning notifications can be added to alert faculty when a student's performance shows signs of decline.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Mobile and cloud-based deployment can make the system accessible to faculty and students from anywhere. 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800" i="0">
                <a:latin typeface="Times New Roman"/>
                <a:ea typeface="Calibri"/>
                <a:cs typeface="Times New Roman"/>
              </a:rPr>
              <a:t>Advanced analytics and explainable AI can be incorporated to identify why a student is predicted to be at risk and support better academic decision-making.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62B865F9-9D72-3893-13D9-0E28BD166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98906E7E-B82A-5366-4038-BF67DBB83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300132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112191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94266" y="2245736"/>
            <a:ext cx="10810240" cy="476989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Y. Lou and K. F. Colvin, “Performance Prediction Using Educational Data Mining Techniques: A Comparative Study,”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Discover Education</a:t>
            </a:r>
            <a:r>
              <a:rPr lang="en-IN" sz="1600" i="0">
                <a:ea typeface="Calibri"/>
              </a:rPr>
              <a:t>, vol. 4, article 112, 2025. </a:t>
            </a:r>
            <a:endParaRPr lang="en-IN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“Prediction of Student Performance in E-Learning Environment Using Machine Learning Techniques,”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Procedia Computer Science</a:t>
            </a:r>
            <a:r>
              <a:rPr lang="en-IN" sz="1600" i="0">
                <a:ea typeface="Calibri"/>
              </a:rPr>
              <a:t>, vol. 259, pp. 1416–1425, 2025.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“The Integration of Explainable AI in Educational Data Mining for Student Academic Performance Prediction and Support System,”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Telematics and Informatics Reports</a:t>
            </a:r>
            <a:r>
              <a:rPr lang="en-IN" sz="1600" i="0">
                <a:ea typeface="Calibri"/>
              </a:rPr>
              <a:t>, vol. 18, article 100203, 2025.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“Predictive Analytics in Education – Enhancing Student Achievement Through Machine Learning,”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Social Sciences &amp; Humanities Open</a:t>
            </a:r>
            <a:r>
              <a:rPr lang="en-IN" sz="1600" i="0">
                <a:ea typeface="Calibri"/>
              </a:rPr>
              <a:t>, vol. 12, article 101824, 2025.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Y. Lou and K. F. Colvin, “Performance Prediction Using Educational Data Mining Techniques: A Comparative Study,”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Discover Education</a:t>
            </a:r>
            <a:r>
              <a:rPr lang="en-IN" sz="1600" i="0">
                <a:ea typeface="Calibri"/>
              </a:rPr>
              <a:t>, 2025. — Particularly relevant to your use of regression, decision tree, and random forest models. </a:t>
            </a:r>
            <a:endParaRPr lang="en-IN" sz="1600">
              <a:ea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600" i="0">
                <a:ea typeface="Calibri"/>
              </a:rPr>
              <a:t>“Predicting Student Performance: A Comprehensive Review of Machine Learning, Deep Learning, and Explainable AI Approaches,”</a:t>
            </a:r>
            <a:r>
              <a:rPr lang="en-IN" sz="1600" i="0" dirty="0">
                <a:ea typeface="Calibri"/>
              </a:rPr>
              <a:t> </a:t>
            </a:r>
            <a:r>
              <a:rPr lang="en-IN" sz="1600">
                <a:ea typeface="Calibri"/>
              </a:rPr>
              <a:t>Computers and Education: Artificial Intelligence</a:t>
            </a:r>
            <a:r>
              <a:rPr lang="en-IN" sz="1600" i="0">
                <a:ea typeface="Calibri"/>
              </a:rPr>
              <a:t>, vol. 10, article 100548, 2026. </a:t>
            </a:r>
            <a:endParaRPr lang="en-IN" sz="1600">
              <a:ea typeface="Calibri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endParaRPr lang="en-IN" sz="16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32ECA2B9-59FE-FC82-B113-712A38C7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" b="1282"/>
          <a:stretch>
            <a:fillRect/>
          </a:stretch>
        </p:blipFill>
        <p:spPr>
          <a:xfrm>
            <a:off x="861483" y="308504"/>
            <a:ext cx="10436652" cy="874468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67AEC220-561F-2A41-8D0E-B03420E7D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78" y="1437715"/>
            <a:ext cx="10805582" cy="54821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BF4CEA-6DB9-0A0C-F697-34F4F796F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4"/>
            <a:ext cx="12192000" cy="6838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</TotalTime>
  <Words>790</Words>
  <Application>Microsoft Office PowerPoint</Application>
  <PresentationFormat>Widescreen</PresentationFormat>
  <Paragraphs>68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DSA0404  - FUNDAMENTALS   OF  DATA  SCIENCE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CSA0837 – Python programming for Application development</dc:title>
  <dc:creator>Ganesh Sai</dc:creator>
  <cp:lastModifiedBy>hemasree dev</cp:lastModifiedBy>
  <cp:revision>486</cp:revision>
  <dcterms:created xsi:type="dcterms:W3CDTF">2026-02-05T10:01:27Z</dcterms:created>
  <dcterms:modified xsi:type="dcterms:W3CDTF">2026-09-04T07:25:27Z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2026-01-24T00:00:00Z</vt:filetime>
  </property>
  <property fmtid="{D5CDD505-2E9C-101B-9397-08002B2CF9AE}" pid="3" name="LastSaved">
    <vt:filetime>2026-02-05T00:00:00Z</vt:filetime>
  </property>
</Properties>
</file>