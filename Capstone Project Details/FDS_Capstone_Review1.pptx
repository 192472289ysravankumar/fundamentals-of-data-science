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30D27A-3D75-4225-9E87-30022EB1F343}" v="24" dt="2026-09-04T08:25:09.7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7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0"/>
            <a:ext cx="4069080" cy="6858000"/>
          </a:xfrm>
          <a:prstGeom prst="rect">
            <a:avLst/>
          </a:prstGeom>
          <a:solidFill>
            <a:srgbClr val="0F6E5D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0A4F43"/>
          </a:solidFill>
          <a:ln/>
        </p:spPr>
      </p:sp>
      <p:sp>
        <p:nvSpPr>
          <p:cNvPr id="4" name="Shape 2"/>
          <p:cNvSpPr/>
          <p:nvPr/>
        </p:nvSpPr>
        <p:spPr>
          <a:xfrm>
            <a:off x="11521440" y="4389120"/>
            <a:ext cx="2743200" cy="2743200"/>
          </a:xfrm>
          <a:prstGeom prst="ellipse">
            <a:avLst/>
          </a:prstGeom>
          <a:solidFill>
            <a:srgbClr val="E08E3E"/>
          </a:solidFill>
          <a:ln/>
        </p:spPr>
      </p:sp>
      <p:pic>
        <p:nvPicPr>
          <p:cNvPr id="5" name="Image 0" descr="/home/claude/ppt/icon_tre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74320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02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SIMATS ENGINEERING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84124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C9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SAVEETHA INSTITUTE OF MEDICAL AND TECHNICAL SCIENCES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7040880" cy="1737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Student Performance Analysis using Exploratory Data </a:t>
            </a:r>
            <a:r>
              <a:rPr lang="en-US" sz="32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Anlysis</a:t>
            </a:r>
          </a:p>
        </p:txBody>
      </p:sp>
      <p:sp>
        <p:nvSpPr>
          <p:cNvPr id="9" name="Text 6"/>
          <p:cNvSpPr/>
          <p:nvPr/>
        </p:nvSpPr>
        <p:spPr>
          <a:xfrm>
            <a:off x="640080" y="4069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DSA04 – Fundamentals of Data Science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50749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: </a:t>
            </a:r>
            <a:r>
              <a:rPr lang="en-US" sz="1200" b="1" dirty="0">
                <a:solidFill>
                  <a:srgbClr val="C9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24-07-2006</a:t>
            </a:r>
            <a:r>
              <a:rPr lang="en-US" sz="1200" dirty="0">
                <a:solidFill>
                  <a:srgbClr val="C9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548640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Krishna Mony, Associate Professor / CSE.
</a:t>
            </a:r>
            <a:r>
              <a:rPr lang="en-US" sz="1250" b="1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Mohammad Taher (192524366)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S. Siva Charan (192472147)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Y. Sravan Kumar (12472289)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55064"/>
            <a:ext cx="128016" cy="128016"/>
          </a:xfrm>
          <a:prstGeom prst="ellipse">
            <a:avLst/>
          </a:prstGeom>
          <a:solidFill>
            <a:srgbClr val="0F6E5D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27048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academic performance depends on multiple factors such as attendance, internal assessment marks, and study patterns.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51176"/>
            <a:ext cx="128016" cy="128016"/>
          </a:xfrm>
          <a:prstGeom prst="ellipse">
            <a:avLst/>
          </a:prstGeom>
          <a:solidFill>
            <a:srgbClr val="0F6E5D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42316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tracking and analyzing performance trends across large student groups is time-consuming and error-prone</a:t>
            </a: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128016" cy="128016"/>
          </a:xfrm>
          <a:prstGeom prst="ellipse">
            <a:avLst/>
          </a:prstGeom>
          <a:solidFill>
            <a:srgbClr val="0F6E5D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9272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evaluation methods offer limited insight into the root causes behind a student's rising or falling performance</a:t>
            </a: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343400"/>
            <a:ext cx="128016" cy="128016"/>
          </a:xfrm>
          <a:prstGeom prst="ellipse">
            <a:avLst/>
          </a:prstGeom>
          <a:solidFill>
            <a:srgbClr val="0F6E5D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215384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develops a data science based system that analyses academic records to identify performance patterns.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5239512"/>
            <a:ext cx="128016" cy="128016"/>
          </a:xfrm>
          <a:prstGeom prst="ellipse">
            <a:avLst/>
          </a:prstGeom>
          <a:solidFill>
            <a:srgbClr val="0F6E5D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5111496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uses statistical and machine learning techniques to predict outcomes and support early academic intervention.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09560" y="1554480"/>
            <a:ext cx="3703320" cy="4572000"/>
          </a:xfrm>
          <a:prstGeom prst="roundRect">
            <a:avLst>
              <a:gd name="adj" fmla="val 2963"/>
            </a:avLst>
          </a:prstGeom>
          <a:solidFill>
            <a:srgbClr val="EAF3F1"/>
          </a:solidFill>
          <a:ln/>
        </p:spPr>
      </p:sp>
      <p:sp>
        <p:nvSpPr>
          <p:cNvPr id="15" name="Shape 13"/>
          <p:cNvSpPr/>
          <p:nvPr/>
        </p:nvSpPr>
        <p:spPr>
          <a:xfrm>
            <a:off x="9326880" y="1965960"/>
            <a:ext cx="868680" cy="868680"/>
          </a:xfrm>
          <a:prstGeom prst="roundRect">
            <a:avLst/>
          </a:prstGeom>
          <a:solidFill>
            <a:srgbClr val="0F6E5D"/>
          </a:solidFill>
          <a:ln/>
        </p:spPr>
      </p:sp>
      <p:pic>
        <p:nvPicPr>
          <p:cNvPr id="16" name="Image 0" descr="/home/claude/ppt/icon_tre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4" y="2112264"/>
            <a:ext cx="576072" cy="57607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183880" y="3017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183880" y="342900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 helps faculty identify at-risk students early and enables timely, personalised academic support.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ANALYSER USING DATA SCIENCE TECHNIQUES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051914" cy="4023360"/>
          </a:xfrm>
          <a:prstGeom prst="roundRect">
            <a:avLst>
              <a:gd name="adj" fmla="val 4456"/>
            </a:avLst>
          </a:prstGeom>
          <a:solidFill>
            <a:srgbClr val="EAF3F1"/>
          </a:solidFill>
          <a:ln/>
        </p:spPr>
      </p:sp>
      <p:sp>
        <p:nvSpPr>
          <p:cNvPr id="5" name="Shape 3"/>
          <p:cNvSpPr/>
          <p:nvPr/>
        </p:nvSpPr>
        <p:spPr>
          <a:xfrm>
            <a:off x="1254557" y="2057400"/>
            <a:ext cx="640080" cy="640080"/>
          </a:xfrm>
          <a:prstGeom prst="roundRect">
            <a:avLst/>
          </a:prstGeom>
          <a:solidFill>
            <a:srgbClr val="0F6E5D"/>
          </a:solidFill>
          <a:ln/>
        </p:spPr>
      </p:sp>
      <p:pic>
        <p:nvPicPr>
          <p:cNvPr id="6" name="Image 0" descr="/home/claude/ppt/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141" y="21579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880360"/>
            <a:ext cx="18324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3520440"/>
            <a:ext cx="177759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gather academic records such as marks, attendance, and assignment scores for analysis.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801722" y="1737360"/>
            <a:ext cx="2051914" cy="4023360"/>
          </a:xfrm>
          <a:prstGeom prst="roundRect">
            <a:avLst>
              <a:gd name="adj" fmla="val 4456"/>
            </a:avLst>
          </a:prstGeom>
          <a:solidFill>
            <a:srgbClr val="F3F7F6"/>
          </a:solidFill>
          <a:ln/>
        </p:spPr>
      </p:sp>
      <p:sp>
        <p:nvSpPr>
          <p:cNvPr id="10" name="Shape 7"/>
          <p:cNvSpPr/>
          <p:nvPr/>
        </p:nvSpPr>
        <p:spPr>
          <a:xfrm>
            <a:off x="3507638" y="2057400"/>
            <a:ext cx="640080" cy="640080"/>
          </a:xfrm>
          <a:prstGeom prst="roundRect">
            <a:avLst/>
          </a:prstGeom>
          <a:solidFill>
            <a:srgbClr val="0F6E5D"/>
          </a:solidFill>
          <a:ln/>
        </p:spPr>
      </p:sp>
      <p:pic>
        <p:nvPicPr>
          <p:cNvPr id="11" name="Image 1" descr="/home/claude/ppt/icon_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8222" y="215798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11450" y="2880360"/>
            <a:ext cx="18324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938882" y="3520440"/>
            <a:ext cx="177759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clean, normalise, and structure raw academic data for consistent analysis.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54803" y="1737360"/>
            <a:ext cx="2051914" cy="4023360"/>
          </a:xfrm>
          <a:prstGeom prst="roundRect">
            <a:avLst>
              <a:gd name="adj" fmla="val 4456"/>
            </a:avLst>
          </a:prstGeom>
          <a:solidFill>
            <a:srgbClr val="EAF3F1"/>
          </a:solidFill>
          <a:ln/>
        </p:spPr>
      </p:sp>
      <p:sp>
        <p:nvSpPr>
          <p:cNvPr id="15" name="Shape 11"/>
          <p:cNvSpPr/>
          <p:nvPr/>
        </p:nvSpPr>
        <p:spPr>
          <a:xfrm>
            <a:off x="5760720" y="2057400"/>
            <a:ext cx="640080" cy="640080"/>
          </a:xfrm>
          <a:prstGeom prst="roundRect">
            <a:avLst/>
          </a:prstGeom>
          <a:solidFill>
            <a:srgbClr val="0F6E5D"/>
          </a:solidFill>
          <a:ln/>
        </p:spPr>
      </p:sp>
      <p:pic>
        <p:nvPicPr>
          <p:cNvPr id="16" name="Image 2" descr="/home/claude/ppt/icon_bar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1304" y="215798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64531" y="2880360"/>
            <a:ext cx="18324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Analysis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191963" y="3520440"/>
            <a:ext cx="177759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identify key factors influencing performance using statistical techniques.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07885" y="1737360"/>
            <a:ext cx="2051914" cy="4023360"/>
          </a:xfrm>
          <a:prstGeom prst="roundRect">
            <a:avLst>
              <a:gd name="adj" fmla="val 4456"/>
            </a:avLst>
          </a:prstGeom>
          <a:solidFill>
            <a:srgbClr val="F3F7F6"/>
          </a:solidFill>
          <a:ln/>
        </p:spPr>
      </p:sp>
      <p:sp>
        <p:nvSpPr>
          <p:cNvPr id="20" name="Shape 15"/>
          <p:cNvSpPr/>
          <p:nvPr/>
        </p:nvSpPr>
        <p:spPr>
          <a:xfrm>
            <a:off x="8013802" y="2057400"/>
            <a:ext cx="640080" cy="640080"/>
          </a:xfrm>
          <a:prstGeom prst="roundRect">
            <a:avLst/>
          </a:prstGeom>
          <a:solidFill>
            <a:srgbClr val="0F6E5D"/>
          </a:solidFill>
          <a:ln/>
        </p:spPr>
      </p:sp>
      <p:pic>
        <p:nvPicPr>
          <p:cNvPr id="21" name="Image 3" descr="/home/claude/ppt/icon_cp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4386" y="215798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17613" y="2880360"/>
            <a:ext cx="18324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Modelling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45045" y="3520440"/>
            <a:ext cx="177759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apply machine learning models for predicting student performance outcomes.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560966" y="1737360"/>
            <a:ext cx="2051914" cy="4023360"/>
          </a:xfrm>
          <a:prstGeom prst="roundRect">
            <a:avLst>
              <a:gd name="adj" fmla="val 4456"/>
            </a:avLst>
          </a:prstGeom>
          <a:solidFill>
            <a:srgbClr val="EAF3F1"/>
          </a:solidFill>
          <a:ln/>
        </p:spPr>
      </p:sp>
      <p:sp>
        <p:nvSpPr>
          <p:cNvPr id="25" name="Shape 19"/>
          <p:cNvSpPr/>
          <p:nvPr/>
        </p:nvSpPr>
        <p:spPr>
          <a:xfrm>
            <a:off x="10266883" y="2057400"/>
            <a:ext cx="640080" cy="640080"/>
          </a:xfrm>
          <a:prstGeom prst="roundRect">
            <a:avLst/>
          </a:prstGeom>
          <a:solidFill>
            <a:srgbClr val="0F6E5D"/>
          </a:solidFill>
          <a:ln/>
        </p:spPr>
      </p:sp>
      <p:pic>
        <p:nvPicPr>
          <p:cNvPr id="26" name="Image 4" descr="/home/claude/ppt/icon_checkcir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7467" y="2157984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70694" y="2880360"/>
            <a:ext cx="183245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698126" y="3520440"/>
            <a:ext cx="177759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model accuracy and present results through clear visual reports.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ANALYSER USING DATA SCIENCE TECHNIQUES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441930"/>
              </p:ext>
            </p:extLst>
          </p:nvPr>
        </p:nvGraphicFramePr>
        <p:xfrm>
          <a:off x="548640" y="1600200"/>
          <a:ext cx="11064240" cy="4480560"/>
        </p:xfrm>
        <a:graphic>
          <a:graphicData uri="http://schemas.openxmlformats.org/drawingml/2006/table">
            <a:tbl>
              <a:tblPr/>
              <a:tblGrid>
                <a:gridCol w="606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5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Addressed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Predicting Student Academic Performance Using Ensemble Learning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R. Kumar, S. Iyer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Forest, XGBoost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accuracy in early performance prediction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Machine Learning Approach for Student Performance Prediction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Sharma et al.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Tree, SVM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Difficulty identifying at-risk students early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Educational Data Mining for Academic Outcome Analysis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 Fernandes, L. Costa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Clustering, Regression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Lack of pattern-based academic insight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Based Student Grade Prediction 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 Verma, N. Singh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ANN, LSTM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grade forecasting accuracy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Dashboard for Monitoring Student Learning Progress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Alvarez et al.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Visualization, EDA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real-time performance tracking tools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ANALYSER USING DATA SCIENCE TECHNIQUES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4E4D6"/>
          </a:solidFill>
          <a:ln/>
        </p:spPr>
      </p:sp>
      <p:pic>
        <p:nvPicPr>
          <p:cNvPr id="5" name="Image 0" descr="/home/claude/ppt/icon_x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773936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6459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Result Analysis  —  </a:t>
            </a:r>
            <a:r>
              <a:rPr lang="en-US" sz="12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manually review marks sheets to judge student performance and progress.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5328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4E4D6"/>
          </a:solidFill>
          <a:ln/>
        </p:spPr>
      </p:sp>
      <p:pic>
        <p:nvPicPr>
          <p:cNvPr id="8" name="Image 1" descr="/home/claude/ppt/icon_x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615184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4871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Analytical Depth  —  </a:t>
            </a:r>
            <a:r>
              <a:rPr lang="en-US" sz="12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only basic averages without identifying underlying performance patterns.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33741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4E4D6"/>
          </a:solidFill>
          <a:ln/>
        </p:spPr>
      </p:sp>
      <p:pic>
        <p:nvPicPr>
          <p:cNvPr id="11" name="Image 2" descr="/home/claude/ppt/icon_x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45643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328416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Assessment  —  </a:t>
            </a:r>
            <a:r>
              <a:rPr lang="en-US" sz="12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varies across faculty due to subjective judgement and lack of standard metrics.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42153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4E4D6"/>
          </a:solidFill>
          <a:ln/>
        </p:spPr>
      </p:sp>
      <p:pic>
        <p:nvPicPr>
          <p:cNvPr id="14" name="Image 3" descr="/home/claude/ppt/icon_x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297680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4169664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Intervention  —  </a:t>
            </a:r>
            <a:r>
              <a:rPr lang="en-US" sz="12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students are often identified late, after performance has already declined.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50566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4E4D6"/>
          </a:solidFill>
          <a:ln/>
        </p:spPr>
      </p:sp>
      <p:pic>
        <p:nvPicPr>
          <p:cNvPr id="17" name="Image 4" descr="/home/claude/ppt/icon_x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5138928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501091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Predictive Capability  —  </a:t>
            </a:r>
            <a:r>
              <a:rPr lang="en-US" sz="12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methods cannot forecast future performance or trends in advance.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ANALYSER USING DATA SCIENCE TECHNIQUES</a:t>
            </a:r>
            <a:endParaRPr lang="en-US" sz="800" dirty="0"/>
          </a:p>
        </p:txBody>
      </p:sp>
      <p:sp>
        <p:nvSpPr>
          <p:cNvPr id="20" name="Text 13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AF3F1"/>
          </a:solidFill>
          <a:ln/>
        </p:spPr>
      </p:sp>
      <p:pic>
        <p:nvPicPr>
          <p:cNvPr id="5" name="Image 0" descr="/home/claude/ppt/icon_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773936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6459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Analysis  —  </a:t>
            </a:r>
            <a:r>
              <a:rPr lang="en-US" sz="12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academic and attendance data to analyse student performance systematically.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5328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AF3F1"/>
          </a:solidFill>
          <a:ln/>
        </p:spPr>
      </p:sp>
      <p:pic>
        <p:nvPicPr>
          <p:cNvPr id="8" name="Image 1" descr="/home/claude/ppt/icon_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615184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4871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Pattern Detection  —  </a:t>
            </a:r>
            <a:r>
              <a:rPr lang="en-US" sz="12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performance trends and at-risk students using machine learning models.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33741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AF3F1"/>
          </a:solidFill>
          <a:ln/>
        </p:spPr>
      </p:sp>
      <p:pic>
        <p:nvPicPr>
          <p:cNvPr id="11" name="Image 2" descr="/home/claude/ppt/icon_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45643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328416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Insights  —  </a:t>
            </a:r>
            <a:r>
              <a:rPr lang="en-US" sz="12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likely academic outcomes so faculty can act before results decline.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42153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AF3F1"/>
          </a:solidFill>
          <a:ln/>
        </p:spPr>
      </p:sp>
      <p:pic>
        <p:nvPicPr>
          <p:cNvPr id="14" name="Image 3" descr="/home/claude/ppt/icon_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297680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4169664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Reporting  —  </a:t>
            </a:r>
            <a:r>
              <a:rPr lang="en-US" sz="12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performance trends through clear, easy-to-read charts and dashboards.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50566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AF3F1"/>
          </a:solidFill>
          <a:ln/>
        </p:spPr>
      </p:sp>
      <p:pic>
        <p:nvPicPr>
          <p:cNvPr id="17" name="Image 4" descr="/home/claude/ppt/icon_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5138928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501091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Efficiency  —  </a:t>
            </a:r>
            <a:r>
              <a:rPr lang="en-US" sz="12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while improving accuracy and consistency of evaluation.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ANALYSER USING DATA SCIENCE TECHNIQUES</a:t>
            </a:r>
            <a:endParaRPr lang="en-US" sz="800" dirty="0"/>
          </a:p>
        </p:txBody>
      </p:sp>
      <p:sp>
        <p:nvSpPr>
          <p:cNvPr id="20" name="Text 13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Preprocessing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4480560"/>
          </a:xfrm>
          <a:prstGeom prst="roundRect">
            <a:avLst>
              <a:gd name="adj" fmla="val 3333"/>
            </a:avLst>
          </a:prstGeom>
          <a:solidFill>
            <a:srgbClr val="0F6E5D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2331720"/>
            <a:ext cx="1554480" cy="1554480"/>
          </a:xfrm>
          <a:prstGeom prst="ellipse">
            <a:avLst/>
          </a:prstGeom>
          <a:solidFill>
            <a:srgbClr val="0A4F43"/>
          </a:solidFill>
          <a:ln/>
        </p:spPr>
      </p:sp>
      <p:pic>
        <p:nvPicPr>
          <p:cNvPr id="6" name="Image 0" descr="/home/claude/ppt/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26517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4160520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Gathers raw academic records and prepares clean, structured data for analysis.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20624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206240" y="2267712"/>
            <a:ext cx="82296" cy="502920"/>
          </a:xfrm>
          <a:prstGeom prst="rect">
            <a:avLst/>
          </a:prstGeom>
          <a:solidFill>
            <a:srgbClr val="E08E3E"/>
          </a:solidFill>
          <a:ln/>
        </p:spPr>
      </p:sp>
      <p:sp>
        <p:nvSpPr>
          <p:cNvPr id="10" name="Text 7"/>
          <p:cNvSpPr/>
          <p:nvPr/>
        </p:nvSpPr>
        <p:spPr>
          <a:xfrm>
            <a:off x="4434840" y="219456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student data: marks, attendance, assignments, and activity records.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06240" y="3072384"/>
            <a:ext cx="82296" cy="502920"/>
          </a:xfrm>
          <a:prstGeom prst="rect">
            <a:avLst/>
          </a:prstGeom>
          <a:solidFill>
            <a:srgbClr val="E08E3E"/>
          </a:solidFill>
          <a:ln/>
        </p:spPr>
      </p:sp>
      <p:sp>
        <p:nvSpPr>
          <p:cNvPr id="12" name="Text 9"/>
          <p:cNvSpPr/>
          <p:nvPr/>
        </p:nvSpPr>
        <p:spPr>
          <a:xfrm>
            <a:off x="4434840" y="2999232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and remove inconsistent or duplicate entries.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06240" y="3877056"/>
            <a:ext cx="82296" cy="502920"/>
          </a:xfrm>
          <a:prstGeom prst="rect">
            <a:avLst/>
          </a:prstGeom>
          <a:solidFill>
            <a:srgbClr val="E08E3E"/>
          </a:solidFill>
          <a:ln/>
        </p:spPr>
      </p:sp>
      <p:sp>
        <p:nvSpPr>
          <p:cNvPr id="14" name="Text 11"/>
          <p:cNvSpPr/>
          <p:nvPr/>
        </p:nvSpPr>
        <p:spPr>
          <a:xfrm>
            <a:off x="4434840" y="3803904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numerical fields and encode categorical academic attributes.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206240" y="4681728"/>
            <a:ext cx="82296" cy="502920"/>
          </a:xfrm>
          <a:prstGeom prst="rect">
            <a:avLst/>
          </a:prstGeom>
          <a:solidFill>
            <a:srgbClr val="E08E3E"/>
          </a:solidFill>
          <a:ln/>
        </p:spPr>
      </p:sp>
      <p:sp>
        <p:nvSpPr>
          <p:cNvPr id="16" name="Text 13"/>
          <p:cNvSpPr/>
          <p:nvPr/>
        </p:nvSpPr>
        <p:spPr>
          <a:xfrm>
            <a:off x="4434840" y="4608576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the cleaned dataset into a structured format for modelling.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ANALYSER USING DATA SCIENCE TECHNIQUES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Prediction using Machine Learning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4480560"/>
          </a:xfrm>
          <a:prstGeom prst="roundRect">
            <a:avLst>
              <a:gd name="adj" fmla="val 3333"/>
            </a:avLst>
          </a:prstGeom>
          <a:solidFill>
            <a:srgbClr val="0F6E5D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2331720"/>
            <a:ext cx="1554480" cy="1554480"/>
          </a:xfrm>
          <a:prstGeom prst="ellipse">
            <a:avLst/>
          </a:prstGeom>
          <a:solidFill>
            <a:srgbClr val="0A4F43"/>
          </a:solidFill>
          <a:ln/>
        </p:spPr>
      </p:sp>
      <p:pic>
        <p:nvPicPr>
          <p:cNvPr id="6" name="Image 0" descr="/home/claude/ppt/icon_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26517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4160520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data science algorithms to model and predict academic outcomes.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20624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206240" y="2267712"/>
            <a:ext cx="82296" cy="502920"/>
          </a:xfrm>
          <a:prstGeom prst="rect">
            <a:avLst/>
          </a:prstGeom>
          <a:solidFill>
            <a:srgbClr val="E08E3E"/>
          </a:solidFill>
          <a:ln/>
        </p:spPr>
      </p:sp>
      <p:sp>
        <p:nvSpPr>
          <p:cNvPr id="10" name="Text 7"/>
          <p:cNvSpPr/>
          <p:nvPr/>
        </p:nvSpPr>
        <p:spPr>
          <a:xfrm>
            <a:off x="4434840" y="219456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exploratory data analysis to find factors affecting performance.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06240" y="3072384"/>
            <a:ext cx="82296" cy="502920"/>
          </a:xfrm>
          <a:prstGeom prst="rect">
            <a:avLst/>
          </a:prstGeom>
          <a:solidFill>
            <a:srgbClr val="E08E3E"/>
          </a:solidFill>
          <a:ln/>
        </p:spPr>
      </p:sp>
      <p:sp>
        <p:nvSpPr>
          <p:cNvPr id="12" name="Text 9"/>
          <p:cNvSpPr/>
          <p:nvPr/>
        </p:nvSpPr>
        <p:spPr>
          <a:xfrm>
            <a:off x="4434840" y="2999232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 such as Regression, Decision Tree, and Random Forest.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06240" y="3877056"/>
            <a:ext cx="82296" cy="502920"/>
          </a:xfrm>
          <a:prstGeom prst="rect">
            <a:avLst/>
          </a:prstGeom>
          <a:solidFill>
            <a:srgbClr val="E08E3E"/>
          </a:solidFill>
          <a:ln/>
        </p:spPr>
      </p:sp>
      <p:sp>
        <p:nvSpPr>
          <p:cNvPr id="14" name="Text 11"/>
          <p:cNvSpPr/>
          <p:nvPr/>
        </p:nvSpPr>
        <p:spPr>
          <a:xfrm>
            <a:off x="4434840" y="3803904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students into performance categories (high, average, at-risk).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206240" y="4681728"/>
            <a:ext cx="82296" cy="502920"/>
          </a:xfrm>
          <a:prstGeom prst="rect">
            <a:avLst/>
          </a:prstGeom>
          <a:solidFill>
            <a:srgbClr val="E08E3E"/>
          </a:solidFill>
          <a:ln/>
        </p:spPr>
      </p:sp>
      <p:sp>
        <p:nvSpPr>
          <p:cNvPr id="16" name="Text 13"/>
          <p:cNvSpPr/>
          <p:nvPr/>
        </p:nvSpPr>
        <p:spPr>
          <a:xfrm>
            <a:off x="4434840" y="4608576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 accuracy using precision, recall, and F1-score metrics.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ANALYSER USING DATA SCIENCE TECHNIQUES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Insight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4480560"/>
          </a:xfrm>
          <a:prstGeom prst="roundRect">
            <a:avLst>
              <a:gd name="adj" fmla="val 3333"/>
            </a:avLst>
          </a:prstGeom>
          <a:solidFill>
            <a:srgbClr val="0F6E5D"/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2331720"/>
            <a:ext cx="1554480" cy="1554480"/>
          </a:xfrm>
          <a:prstGeom prst="ellipse">
            <a:avLst/>
          </a:prstGeom>
          <a:solidFill>
            <a:srgbClr val="0A4F43"/>
          </a:solidFill>
          <a:ln/>
        </p:spPr>
      </p:sp>
      <p:pic>
        <p:nvPicPr>
          <p:cNvPr id="6" name="Image 0" descr="/home/claude/ppt/icon_pie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26517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4160520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prediction results into clear, actionable visual reports.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20624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206240" y="2267712"/>
            <a:ext cx="82296" cy="502920"/>
          </a:xfrm>
          <a:prstGeom prst="rect">
            <a:avLst/>
          </a:prstGeom>
          <a:solidFill>
            <a:srgbClr val="E08E3E"/>
          </a:solidFill>
          <a:ln/>
        </p:spPr>
      </p:sp>
      <p:sp>
        <p:nvSpPr>
          <p:cNvPr id="10" name="Text 7"/>
          <p:cNvSpPr/>
          <p:nvPr/>
        </p:nvSpPr>
        <p:spPr>
          <a:xfrm>
            <a:off x="4434840" y="219456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dashboard to display performance trends.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06240" y="3072384"/>
            <a:ext cx="82296" cy="502920"/>
          </a:xfrm>
          <a:prstGeom prst="rect">
            <a:avLst/>
          </a:prstGeom>
          <a:solidFill>
            <a:srgbClr val="E08E3E"/>
          </a:solidFill>
          <a:ln/>
        </p:spPr>
      </p:sp>
      <p:sp>
        <p:nvSpPr>
          <p:cNvPr id="12" name="Text 9"/>
          <p:cNvSpPr/>
          <p:nvPr/>
        </p:nvSpPr>
        <p:spPr>
          <a:xfrm>
            <a:off x="4434840" y="2999232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subject-wise and student-wise results using charts and graphs.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06240" y="3877056"/>
            <a:ext cx="82296" cy="502920"/>
          </a:xfrm>
          <a:prstGeom prst="rect">
            <a:avLst/>
          </a:prstGeom>
          <a:solidFill>
            <a:srgbClr val="E08E3E"/>
          </a:solidFill>
          <a:ln/>
        </p:spPr>
      </p:sp>
      <p:sp>
        <p:nvSpPr>
          <p:cNvPr id="14" name="Text 11"/>
          <p:cNvSpPr/>
          <p:nvPr/>
        </p:nvSpPr>
        <p:spPr>
          <a:xfrm>
            <a:off x="4434840" y="3803904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at-risk students for timely academic intervention.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206240" y="4681728"/>
            <a:ext cx="82296" cy="502920"/>
          </a:xfrm>
          <a:prstGeom prst="rect">
            <a:avLst/>
          </a:prstGeom>
          <a:solidFill>
            <a:srgbClr val="E08E3E"/>
          </a:solidFill>
          <a:ln/>
        </p:spPr>
      </p:sp>
      <p:sp>
        <p:nvSpPr>
          <p:cNvPr id="16" name="Text 13"/>
          <p:cNvSpPr/>
          <p:nvPr/>
        </p:nvSpPr>
        <p:spPr>
          <a:xfrm>
            <a:off x="4434840" y="4608576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summary reports to support faculty decision-making.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ANALYSER USING DATA SCIENCE TECHNIQUES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82396" y="237744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EAF3F1"/>
          </a:solidFill>
          <a:ln w="12700">
            <a:solidFill>
              <a:srgbClr val="0F6E5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6756" y="2578608"/>
            <a:ext cx="640080" cy="640080"/>
          </a:xfrm>
          <a:prstGeom prst="ellipse">
            <a:avLst/>
          </a:prstGeom>
          <a:solidFill>
            <a:srgbClr val="0F6E5D"/>
          </a:solidFill>
          <a:ln/>
        </p:spPr>
      </p:sp>
      <p:pic>
        <p:nvPicPr>
          <p:cNvPr id="6" name="Image 0" descr="/home/claude/ppt/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2697480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8116" y="32918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(Marks, Attendance)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711196" y="288036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031236" y="237744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EAF3F1"/>
          </a:solidFill>
          <a:ln w="12700">
            <a:solidFill>
              <a:srgbClr val="0F6E5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25596" y="2578608"/>
            <a:ext cx="640080" cy="640080"/>
          </a:xfrm>
          <a:prstGeom prst="ellipse">
            <a:avLst/>
          </a:prstGeom>
          <a:solidFill>
            <a:srgbClr val="0F6E5D"/>
          </a:solidFill>
          <a:ln/>
        </p:spPr>
      </p:sp>
      <p:pic>
        <p:nvPicPr>
          <p:cNvPr id="11" name="Image 1" descr="/home/claude/ppt/icon_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4468" y="2697480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76956" y="32918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860036" y="288036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180076" y="237744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EAF3F1"/>
          </a:solidFill>
          <a:ln w="12700">
            <a:solidFill>
              <a:srgbClr val="0F6E5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74436" y="2578608"/>
            <a:ext cx="640080" cy="640080"/>
          </a:xfrm>
          <a:prstGeom prst="ellipse">
            <a:avLst/>
          </a:prstGeom>
          <a:solidFill>
            <a:srgbClr val="0F6E5D"/>
          </a:solidFill>
          <a:ln/>
        </p:spPr>
      </p:sp>
      <p:pic>
        <p:nvPicPr>
          <p:cNvPr id="16" name="Image 2" descr="/home/claude/ppt/icon_bar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3308" y="2697480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25796" y="32918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7008876" y="288036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7328916" y="237744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EAF3F1"/>
          </a:solidFill>
          <a:ln w="12700">
            <a:solidFill>
              <a:srgbClr val="0F6E5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923276" y="2578608"/>
            <a:ext cx="640080" cy="640080"/>
          </a:xfrm>
          <a:prstGeom prst="ellipse">
            <a:avLst/>
          </a:prstGeom>
          <a:solidFill>
            <a:srgbClr val="0F6E5D"/>
          </a:solidFill>
          <a:ln/>
        </p:spPr>
      </p:sp>
      <p:pic>
        <p:nvPicPr>
          <p:cNvPr id="21" name="Image 3" descr="/home/claude/ppt/icon_cp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2148" y="2697480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4636" y="32918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9157716" y="288036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8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9477756" y="237744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EAF3F1"/>
          </a:solidFill>
          <a:ln w="12700">
            <a:solidFill>
              <a:srgbClr val="0F6E5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072116" y="2578608"/>
            <a:ext cx="640080" cy="640080"/>
          </a:xfrm>
          <a:prstGeom prst="ellipse">
            <a:avLst/>
          </a:prstGeom>
          <a:solidFill>
            <a:srgbClr val="0F6E5D"/>
          </a:solidFill>
          <a:ln/>
        </p:spPr>
      </p:sp>
      <p:pic>
        <p:nvPicPr>
          <p:cNvPr id="26" name="Image 4" descr="/home/claude/ppt/icon_pie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0988" y="2697480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23476" y="329184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1188720" y="466344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student data is cleaned and transformed, key features are extracted, a trained machine learning model predicts performance, and results are presented through an interactive visualization dashboard.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ANALYSER USING DATA SCIENCE TECHNIQUES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A4F43"/>
          </a:solidFill>
          <a:ln/>
        </p:spPr>
      </p:sp>
      <p:pic>
        <p:nvPicPr>
          <p:cNvPr id="3" name="Image 0" descr="/home/claude/ppt/icon_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85800" y="1499616"/>
            <a:ext cx="109728" cy="109728"/>
          </a:xfrm>
          <a:prstGeom prst="ellipse">
            <a:avLst/>
          </a:prstGeom>
          <a:solidFill>
            <a:srgbClr val="E08E3E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13441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data science based system to analyse and predict student academic performance.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85800" y="2276856"/>
            <a:ext cx="109728" cy="109728"/>
          </a:xfrm>
          <a:prstGeom prst="ellipse">
            <a:avLst/>
          </a:prstGeom>
          <a:solidFill>
            <a:srgbClr val="E08E3E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12140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identifies key factors influencing performance using statistical and ML techniques.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3054096"/>
            <a:ext cx="109728" cy="109728"/>
          </a:xfrm>
          <a:prstGeom prst="ellipse">
            <a:avLst/>
          </a:prstGeom>
          <a:solidFill>
            <a:srgbClr val="E08E3E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289864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 enable early identification of at-risk students for timely intervention.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" y="3831336"/>
            <a:ext cx="109728" cy="109728"/>
          </a:xfrm>
          <a:prstGeom prst="ellipse">
            <a:avLst/>
          </a:prstGeom>
          <a:solidFill>
            <a:srgbClr val="E08E3E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367588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dashboards make performance trends easy to interpret for faculty and mentors.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85800" y="4608576"/>
            <a:ext cx="109728" cy="109728"/>
          </a:xfrm>
          <a:prstGeom prst="ellipse">
            <a:avLst/>
          </a:prstGeom>
          <a:solidFill>
            <a:srgbClr val="E08E3E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445312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analysis reduces manual effort and improves consistency of academic evaluation.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5800" y="5385816"/>
            <a:ext cx="109728" cy="109728"/>
          </a:xfrm>
          <a:prstGeom prst="ellipse">
            <a:avLst/>
          </a:prstGeom>
          <a:solidFill>
            <a:srgbClr val="E08E3E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5230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data science can support more effective, proactive academic guidance.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ANALYSER USING DATA SCIENCE TECHNIQUES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60120" y="16916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R. Kumar and S. Iyer, "Predicting Student Academic Performance Using Ensemble Learning," International Journal of Educational Data Mining, vol. 12, no. 2, pp. 45–58, 2024.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58775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60120" y="2587752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Sharma, R. Gupta, and K. Nair, "A Machine Learning Approach for Student Performance Prediction," Proceedings of the IEEE Conference on Learning Analytics, pp. 112–118, 2024.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48386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3483864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Fernandes and L. Costa, "Educational Data Mining for Academic Outcome Analysis," Expert Systems with Applications, vol. 210, 2025.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37997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4379976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Verma and N. Singh, "Deep Learning Based Student Grade Prediction System," Scientific Reports, vol. 15, Article no. 3021, 2025.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527608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6E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527608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Alvarez, J. Moreno, and D. Cruz, "Analytics Dashboard for Monitoring Student Learning Progress," arXiv preprint arXiv:2503.11842, Mar. 2025.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ANALYSER USING DATA SCIENCE TECHNIQUES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6E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A4F43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0A4F4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83464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37947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7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Analyser using Data Science Techniques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1154</Words>
  <Application>Microsoft Office PowerPoint</Application>
  <PresentationFormat>Widescreen</PresentationFormat>
  <Paragraphs>178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hemasree dev</dc:creator>
  <cp:lastModifiedBy>Lucky Kumar</cp:lastModifiedBy>
  <cp:revision>5</cp:revision>
  <dcterms:modified xsi:type="dcterms:W3CDTF">2026-09-04T08:25:43Z</dcterms:modified>
</cp:coreProperties>
</file>